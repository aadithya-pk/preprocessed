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164592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LOAD FORECASTING</a:t>
            </a:r>
          </a:p>
          <a:p>
            <a:pPr algn="ctr">
              <a:defRPr sz="1500">
                <a:solidFill>
                  <a:srgbClr val="E0E7FF"/>
                </a:solidFill>
              </a:defRPr>
            </a:pPr>
            <a:r>
              <a:t>A Convex Hybrid Ensemble (GBDT + TCN + PatchBiLSTM) Benchmarked on the London Smart Meter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563EB"/>
                </a:solidFill>
              </a:defRPr>
            </a:pPr>
            <a:r>
              <a:t>Presented by: Group 18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AADITHYA PK                    Roll No: B23CSB02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ASHIK ALI                      Roll No: B23CSB22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SAHIL RAMZAN BHAT              Roll No: B23CSB57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ASHIQ MUHAMED KN               Roll No: B23CSB78</a:t>
            </a:r>
          </a:p>
          <a:p>
            <a:br/>
            <a:pPr>
              <a:defRPr b="1" sz="1300">
                <a:solidFill>
                  <a:srgbClr val="0F172A"/>
                </a:solidFill>
              </a:defRPr>
            </a:pPr>
            <a:r>
              <a:t>Department of Computer Science &amp; Engineering, TKM College of Engineering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Project Supervisor: Dr. Anantha Padmanabhan N. 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2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01. Motivation &amp; Research Gaps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Smart grid challenges, physical non-linearity, and 5 key literature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28655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02. Literature Survey &amp; Benchmark Zoo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Critique of 8 peer-reviewed models (2023–2025): why trees step &amp; transformers smooth.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10728655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03. Proposed Architecture &amp; Methodology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The 3 orthogonal specialists, leak-free protocol, and 0.28s convex optimization.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728655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04. Comprehensive Empirical Results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Primary leaderboard, peak-week tracking, regime stress tests, and Pareto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59"/>
            <a:ext cx="10728655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05. Mathematical Significance &amp; Insights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Diebold-Mariano tests (p &lt; 0.0001), error correlation proof, and conclusions.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Introduction: Short-Term Load Forecasting in Smart Grids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3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>
              <a:defRPr b="1" sz="1500">
                <a:solidFill>
                  <a:srgbClr val="2563EB"/>
                </a:solidFill>
              </a:defRPr>
            </a:pPr>
            <a:r>
              <a:t>Role of Short-Term Load Forecasting (STLF)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STLF predicts electrical power demand 30 minutes to 24 hours ahead at the grid feeder level.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Essential for real-time grid balancing, dispatch scheduling, and preventing power blackouts.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Crucial for renewable energy integration (solar and wind cannot be dispatched on demand; flexible grid forecasting compensates for volatility).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Enables dynamic demand-response pricing and automated battery storage charging.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>
              <a:defRPr b="1" sz="1500">
                <a:solidFill>
                  <a:srgbClr val="16A34A"/>
                </a:solidFill>
              </a:defRPr>
            </a:pPr>
            <a:r>
              <a:t>Operational Motivation &amp; Emerging Challenges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Smart Meter Explosion: High-frequency 30-minute smart meter feeds generate massive, volatile time-series streams.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Decentralized Energy Shocks: Rapid adoption of domestic Heat Pumps and Electric Vehicles (EVs) creates sharp, unpredictable residential spikes.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Cost of Prediction Errors: In the UK market, a 1% forecast error increases grid reserve balancing costs by millions of pounds annually.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Computational Requirement: Utilities need models that can optimize within minutes, not complex black-boxes that take hours to retrain.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The Inductive Bias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4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2286000"/>
          </a:xfrm>
          <a:prstGeom prst="roundRect">
            <a:avLst/>
          </a:prstGeom>
          <a:solidFill>
            <a:srgbClr val="FEF2F2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>
              <a:defRPr b="1" sz="1500">
                <a:solidFill>
                  <a:srgbClr val="B91C1C"/>
                </a:solidFill>
              </a:defRPr>
            </a:pPr>
            <a:r>
              <a:t>THE PROBLEM: Single Models Suffer from Inductive Bias Mismatch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Aggregated residential load is non-linear, multi-frequency, and sharply peaked. Existing models face an architectural trade-off: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1. Tabular Decision Trees (LightGBM): Partition space via piecewise-constant steps. They capture calendar schedules well but cannot model continuous rate-of-change (dy/dt), overshooting sharp ramps.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2. Deep Transformers (EMSformer, PatchTST): Softmax attention normalizes across 48 time steps, acting as a low-pass filter that dilutes and smooths sharp residential evening cooking peaks (&gt;150 kWh MAE).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2286000"/>
          </a:xfrm>
          <a:prstGeom prst="roundRect">
            <a:avLst/>
          </a:prstGeom>
          <a:solidFill>
            <a:srgbClr val="F0FDF4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>
              <a:defRPr b="1" sz="1500">
                <a:solidFill>
                  <a:srgbClr val="15803D"/>
                </a:solidFill>
              </a:defRPr>
            </a:pPr>
            <a:r>
              <a:t>THE NEED: An Orthogonal Convex Hybrid Framework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 rigorous, leak-free benchmarking framework comparing recent literature baselines against strong tabular models on real smart meter feeds.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An architectural fusion combining decision trees (for rule-based schedule cuts) with causal continuous wave convolutions and local patch attention.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 formulation solved via bounded convex optimization in seconds, eliminating deep meta-learner instability and test-time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Alignment with UN Sustainable Development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5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50">
                <a:solidFill>
                  <a:srgbClr val="2563EB"/>
                </a:solidFill>
              </a:defRPr>
            </a:pPr>
            <a:r>
              <a:t>SDG 7: Affordable &amp; Clean Energy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Enables precise grid balance, minimizing expensive diesel/gas peaking plant startup and maximizing renewable energy utilization without grid curtailment.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50">
                <a:solidFill>
                  <a:srgbClr val="16A34A"/>
                </a:solidFill>
              </a:defRPr>
            </a:pPr>
            <a:r>
              <a:t>SDG 9: Industry, Innovation &amp; Infrastructure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Provides intelligent, low-latency AI digital infrastructure for electrical transmission systems, replacing slow legacy dispatch methods.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50">
                <a:solidFill>
                  <a:srgbClr val="EA580C"/>
                </a:solidFill>
              </a:defRPr>
            </a:pPr>
            <a:r>
              <a:t>SDG 11: Sustainable Cities &amp; Communities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Empowers smart municipal energy distribution, community microgrid demand-response, and local electric vehicle charging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286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50">
                <a:solidFill>
                  <a:srgbClr val="DC2626"/>
                </a:solidFill>
              </a:defRPr>
            </a:pPr>
            <a:r>
              <a:t>SDG 13: Climate Action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Directly reduces grid carbon emissions by preventing over-generation and thermal losses across distribution feeders.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Literature Benchmark Zoo (Part 1: Linear, Tree &amp; Mixers)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6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LightGBM (Ke et al., NeurIPS 2017)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Mechanism: Gradient Boosted Decision Trees on engineered lag/weather tables.</a:t>
            </a:r>
          </a:p>
          <a:p>
            <a:pPr>
              <a:defRPr sz="1050">
                <a:solidFill>
                  <a:srgbClr val="B91C1C"/>
                </a:solidFill>
              </a:defRPr>
            </a:pPr>
            <a:r>
              <a:t>• Strength: Fast (1.6s); optimal for discrete calendar rules and tariff cutoffs.  |  Critical Flaw: Piecewise-constant steps cannot model smooth slopes (dy/dt); 171.8 kWh max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28655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DLinear (Zeng et al., AAAI 2023)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Mechanism: Decomposition linear regression on trend and seasonal streams.</a:t>
            </a:r>
          </a:p>
          <a:p>
            <a:pPr>
              <a:defRPr sz="1050">
                <a:solidFill>
                  <a:srgbClr val="B91C1C"/>
                </a:solidFill>
              </a:defRPr>
            </a:pPr>
            <a:r>
              <a:t>• Strength: Extremely simple; showed linear layers beat early Transformers.  |  Critical Flaw: Zero non-linear modeling capacity; fails during winter cold-snaps (51.65 kWh MAE).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10728655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TimeMixer (Wang et al., ICLR 2024)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Mechanism: Multi-scale downsampling pyramid mixing representations across frequencies.</a:t>
            </a:r>
          </a:p>
          <a:p>
            <a:pPr>
              <a:defRPr sz="1050">
                <a:solidFill>
                  <a:srgbClr val="B91C1C"/>
                </a:solidFill>
              </a:defRPr>
            </a:pPr>
            <a:r>
              <a:t>• Strength: Effective at extracting multi-frequency repeating circadian cycles.  |  Critical Flaw: Lacks recurrent hidden memory for non-periodic holiday and storm shocks.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Literature Benchmark Zoo (Part 2: Transformers &amp; Hybrids)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7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17043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PatchTST (Nie et al., ICLR 2023)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Mechanism: Patch-based tokenization with channel-independent self-attention.</a:t>
            </a:r>
          </a:p>
          <a:p>
            <a:pPr>
              <a:defRPr sz="1000" b="1">
                <a:solidFill>
                  <a:srgbClr val="B91C1C"/>
                </a:solidFill>
              </a:defRPr>
            </a:pPr>
            <a:r>
              <a:t>• Critical Flaw: Channel independence broke physical thermodynamic load-weather coupling ($R^2=0.650$).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728655" cy="117043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EMSformer (IEEE TPWRS Nov 2025)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Mechanism: Energy Management System multi-head attention over 48-step sequences.</a:t>
            </a:r>
          </a:p>
          <a:p>
            <a:pPr>
              <a:defRPr sz="1000" b="1">
                <a:solidFill>
                  <a:srgbClr val="B91C1C"/>
                </a:solidFill>
              </a:defRPr>
            </a:pPr>
            <a:r>
              <a:t>• Critical Flaw: Softmax attention disperses mass, acting as low-pass filter that blurs evening peaks (159.9 kWh MAE).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77056"/>
            <a:ext cx="10728655" cy="117043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LTE Hybrid (IEEE TSG May 2025)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Mechanism: Stacked LSTM + Temporal CNN + Ensemble MLP.</a:t>
            </a:r>
          </a:p>
          <a:p>
            <a:pPr>
              <a:defRPr sz="1000" b="1">
                <a:solidFill>
                  <a:srgbClr val="B91C1C"/>
                </a:solidFill>
              </a:defRPr>
            </a:pPr>
            <a:r>
              <a:t>• Critical Flaw: Recurrent hidden state drift; massive 1.5-hour compute time (5,672s) impractical for 30m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75504"/>
            <a:ext cx="10728655" cy="117043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TCN-QRNN (Nature Sci. Rep. 2025)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Mechanism: Dilated causal convolutions combined with quasi-recurrent pooling.</a:t>
            </a:r>
          </a:p>
          <a:p>
            <a:pPr>
              <a:defRPr sz="1000" b="1">
                <a:solidFill>
                  <a:srgbClr val="B91C1C"/>
                </a:solidFill>
              </a:defRPr>
            </a:pPr>
            <a:r>
              <a:t>• Critical Flaw: Recency pooling bias causes lag on Sunday-Monday transitions (MAE: 35.38 kWh).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Identified Research Gaps in STLF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8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250">
                <a:solidFill>
                  <a:srgbClr val="2563EB"/>
                </a:solidFill>
              </a:defRPr>
            </a:pPr>
            <a:r>
              <a:t>Gap 1: Absence of Standardized Zero-Leakage Benchmarks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Recent deep models evaluate on synthetic long-horizon datasets; few are tested side-by-side with tuned tabular baselines on real smart grids.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67712"/>
            <a:ext cx="10728655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250">
                <a:solidFill>
                  <a:srgbClr val="2563EB"/>
                </a:solidFill>
              </a:defRPr>
            </a:pPr>
            <a:r>
              <a:t>Gap 2: The Transformer Peak-Smoothing Blindspot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Standard self-attention mechanisms diffuse probability mass, underestimating critical evening cooking/heating spikes when operational risk is highest.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55264"/>
            <a:ext cx="10728655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250">
                <a:solidFill>
                  <a:srgbClr val="2563EB"/>
                </a:solidFill>
              </a:defRPr>
            </a:pPr>
            <a:r>
              <a:t>Gap 3: Tree Step-Discretization on Continuous Ramps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GBDTs output zero derivatives inside partitions, creating localized step errors during rapid morning and evening load ramps.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42816"/>
            <a:ext cx="10728655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250">
                <a:solidFill>
                  <a:srgbClr val="2563EB"/>
                </a:solidFill>
              </a:defRPr>
            </a:pPr>
            <a:r>
              <a:t>Gap 4: Lack of Operational Regime Stress Testing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Most studies report only global average MAE/RMSE, hiding catastrophic failures during cold snaps, midnight valleys, and weekends.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30368"/>
            <a:ext cx="10728655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250">
                <a:solidFill>
                  <a:srgbClr val="2563EB"/>
                </a:solidFill>
              </a:defRPr>
            </a:pPr>
            <a:r>
              <a:t>Gap 5: The Accuracy-vs-Efficiency Trade-off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Complex deep hybrids require hours of GPU backpropagation, violating the strict 30-minute real-time smart grid dispatch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9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ctr">
              <a:spcAft>
                <a:spcPts val="1200"/>
              </a:spcAft>
              <a:defRPr b="1" sz="1600">
                <a:solidFill>
                  <a:srgbClr val="0F172A"/>
                </a:solidFill>
              </a:defRPr>
            </a:pPr>
            <a:r>
              <a:t>Core Research Objectives</a:t>
            </a:r>
          </a:p>
          <a:p>
            <a:pPr>
              <a:spcAft>
                <a:spcPts val="1400"/>
              </a:spcAft>
              <a:defRPr sz="1250">
                <a:solidFill>
                  <a:srgbClr val="1E293B"/>
                </a:solidFill>
              </a:defRPr>
            </a:pPr>
            <a:r>
              <a:t>1. Build a Reproducible Smart Grid Pipeline: Aggregate 5,567 raw household smart meter block files into a feeder-level series merged with hourly Dark Sky weather and bank holidays.</a:t>
            </a:r>
          </a:p>
          <a:p>
            <a:pPr>
              <a:spcAft>
                <a:spcPts val="1400"/>
              </a:spcAft>
              <a:defRPr sz="1250">
                <a:solidFill>
                  <a:srgbClr val="1E293B"/>
                </a:solidFill>
              </a:defRPr>
            </a:pPr>
            <a:r>
              <a:t>2. Establish a Zero-Leakage Benchmark Protocol: Evaluate 14 total models (8 published baselines, 2 trial ablations, and 4 novel architectures) across strictly held-out winter splits.</a:t>
            </a:r>
          </a:p>
          <a:p>
            <a:pPr>
              <a:spcAft>
                <a:spcPts val="1400"/>
              </a:spcAft>
              <a:defRPr sz="1250">
                <a:solidFill>
                  <a:srgbClr val="1E293B"/>
                </a:solidFill>
              </a:defRPr>
            </a:pPr>
            <a:r>
              <a:t>3. Design Novel Specialized Learners: Address literature flaws by developing Novel 1 (MSD-TCN) for continuous wave tracking and Novel 2 (D-PABNet) for localized patch attention.</a:t>
            </a:r>
          </a:p>
          <a:p>
            <a:pPr>
              <a:spcAft>
                <a:spcPts val="1400"/>
              </a:spcAft>
              <a:defRPr sz="1250">
                <a:solidFill>
                  <a:srgbClr val="1E293B"/>
                </a:solidFill>
              </a:defRPr>
            </a:pPr>
            <a:r>
              <a:t>4. Propose STLF-SuperEnsemble: Fuse orthogonal decision trees and neural specialists via bounded convex optimization, converging in fractions of a second.</a:t>
            </a:r>
          </a:p>
          <a:p>
            <a:pPr>
              <a:spcAft>
                <a:spcPts val="1400"/>
              </a:spcAft>
              <a:defRPr sz="1250">
                <a:solidFill>
                  <a:srgbClr val="1E293B"/>
                </a:solidFill>
              </a:defRPr>
            </a:pPr>
            <a:r>
              <a:t>5. Conduct Comprehensive Statistical &amp; Regime Validation: Prove model superiority across 14 metrics, operational stress regimes (Peak, Base, Cold Snap), and Diebold-Mariano tests (p &lt; 0.0001).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Methodology: Data Pipeline &amp; Zero-Leakage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10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2563EB"/>
                </a:solidFill>
              </a:defRPr>
            </a:pPr>
            <a:r>
              <a:t>Step 1: Ingestion &amp; Aggregation</a:t>
            </a:r>
          </a:p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</a:defRPr>
            </a:pPr>
            <a:r>
              <a:t>• 5,567 London household streams (half-hourly kWh) summed to feeder-level.</a:t>
            </a:r>
            <a:br/>
            <a:r>
              <a:t>• Gaps &lt;= 4 steps (2h) time-interpolated; remaining dropped.</a:t>
            </a:r>
            <a:br/>
            <a:r>
              <a:t>• Output: 39,391 half-hourly grid steps (Nov 2011 - Feb 2014).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38328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2563EB"/>
                </a:solidFill>
              </a:defRPr>
            </a:pPr>
            <a:r>
              <a:t>Step 2: Feature Engineering (19 Inputs)</a:t>
            </a:r>
          </a:p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</a:defRPr>
            </a:pPr>
            <a:r>
              <a:t>• Weather: Temperature, Apparent Temp, Humidity, Pressure.</a:t>
            </a:r>
            <a:br/>
            <a:r>
              <a:t>• Calendar &amp; Cyclic: Hour, Day of Week, Month, sin/cos cyclical encoding.</a:t>
            </a:r>
            <a:br/>
            <a:r>
              <a:t>• Autoregressive Lags: t-1 (30m), t-2 (1h), t-48 (24h), t-336 (7d).</a:t>
            </a:r>
            <a:br/>
            <a:r>
              <a:t>• Rolling statistics: 24h rolling mean.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38328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2563EB"/>
                </a:solidFill>
              </a:defRPr>
            </a:pPr>
            <a:r>
              <a:t>Step 3: Zero-Leakage Splits</a:t>
            </a:r>
          </a:p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</a:defRPr>
            </a:pPr>
            <a:r>
              <a:t>• Train (70%): Nov 2011 - Jun 2013 (27,573 steps). Scalers fit here only!</a:t>
            </a:r>
            <a:br/>
            <a:r>
              <a:t>• Validation (15%): Jul 2013 - Oct 2013 (5,909 steps) for weights &amp; early stop.</a:t>
            </a:r>
            <a:br/>
            <a:r>
              <a:t>• Test (15%): Oct 29, 2013 - Feb 28, 2014 (5,861 aligned winter steps).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End-to-End Architecture: STLF-SuperEnsemble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11 of 26</a:t>
            </a:r>
          </a:p>
        </p:txBody>
      </p:sp>
      <p:pic>
        <p:nvPicPr>
          <p:cNvPr id="5" name="Picture 4" descr="Figure_0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Trial Prototype Failure Analysis (Ablation Stage)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12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EF2F2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400">
                <a:solidFill>
                  <a:srgbClr val="B91C1C"/>
                </a:solidFill>
              </a:defRPr>
            </a:pPr>
            <a:r>
              <a:t>Trial Prototype: MS-STLFNet (43.88 kWh)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Architecture: Sequentially chained TimeMixer downsampling --&gt; TCN convolution --&gt; LightGBM Residual Booster.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Ablation Test: Removing the tree booster caused error to worsen to 44.91 kWh (No-Tree Backbone).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The Sequential Bottleneck: End-to-end MSE backpropagation forced early layers to optimize for global sequence average.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Gradient Smoothing: TimeMixer's linear downsampling smoothed down sharp 18:00 cooking peaks before the downstream TCN ever saw the representation.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The Residual Failure: Handed a pre-smoothed latent representation, the tree booster could not recover lost high-frequency phase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0FDF4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400">
                <a:solidFill>
                  <a:srgbClr val="15803D"/>
                </a:solidFill>
              </a:defRPr>
            </a:pPr>
            <a:r>
              <a:t>The Paradigm Shift: Decoupled Parallel Experts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Key Finding: Deep neural networks and tree models must NEVER be chained sequentially in series.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Parallel Specialization: Each learner must inspect raw physical inputs directly without intermediate latent degradation.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Inductive Bias Separation: Allow the tree to focus purely on calendar logic while convolutional filters focus purely on continuous wave dynamics.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Convex Decoupling: Solve combination weights post-hoc using convex quadratic programming, eliminating neural meta-learner instability.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Outcome: This architectural pivot directly yielded our Champion (21.64 kWh MAE).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4 Novel Architectures Developed in This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13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143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00">
                <a:solidFill>
                  <a:srgbClr val="16A34A"/>
                </a:solidFill>
              </a:defRPr>
            </a:pPr>
            <a:r>
              <a:t>Novel 1: MSD-TCN (28.55 kWh)   |   Ingredients: TimeMixer + TCN + DLinear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Multi-scale downsampling + dilated causal convolutions (d=1,2,4,8). First deep model to beat all literature baselines (&lt;30 kWh). Selected as Champion Wave Specialist.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728655" cy="1143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Novel 2: D-PABNet (30.88 kWh)   |   Ingredients: PatchTST + BiLSTM + Decomp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Trend-seasonal decomposition + 2h localized patch attention (preventing peak dilution) + BiLSTM smoothing. Selected as Champion Patch Specialist.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77056"/>
            <a:ext cx="10728655" cy="1143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00">
                <a:solidFill>
                  <a:srgbClr val="EA580C"/>
                </a:solidFill>
              </a:defRPr>
            </a:pPr>
            <a:r>
              <a:t>Novel 3: H-MoE-Boost (30.90 kWh)   |   Ingredients: TCN + BiLSTM + MoE Router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3 specialized neural heads (Base, Peak, Weather) with dynamic gating. Performed well but discarded due to high error correlation with Novel 1 &amp; 2 (Ablation baseline).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75504"/>
            <a:ext cx="10728655" cy="1143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300">
                <a:solidFill>
                  <a:srgbClr val="DC2626"/>
                </a:solidFill>
              </a:defRPr>
            </a:pPr>
            <a:r>
              <a:t>Novel 4: STLF-SuperEnsemble (21.64 kWh)   |   Ingredients: LightGBM + Novel 1 + Novel 2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Orthogonal convex fusion solving bounded weights in 0.28s. Achieves global state-of-the-art across all metrics and operational stress regimes.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Ensemble Algorithm &amp; Convex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14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Step-by-Step Training Algorithm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1. Ingestion: Stream 5,567 raw smart meters, sum load, interpolate gaps &lt;= 4 steps.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2. Features: Build 19 tabular features; drop 7-day warmup.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3. Scaling: Fit StandardScaler on Train split (27,573 steps) exclusively.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4. Base Training: Train LightGBM (1.6s), Novel 1 MSD-TCN (434s), and Novel 2 D-PABNet (188s) with early stopping on validation.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5. Residual Collection: Gather out-of-fold validation predictions y_val from the 3 models.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6. Convex Optimization: Solve bounded weights on validation fold via L-BFGS-B (0.28s).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7. Final Evaluation: Apply fixed weights to held-out test predictions (5,861 steps).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Mathematical Formulation &amp; Weights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Optimization Objective (L-BFGS-B Solver):</a:t>
            </a:r>
          </a:p>
          <a:p>
            <a:pPr>
              <a:defRPr sz="1100" b="1">
                <a:solidFill>
                  <a:srgbClr val="9333EA"/>
                </a:solidFill>
              </a:defRPr>
            </a:pPr>
            <a:r>
              <a:t>min_w  (1/M) * ∑ | y_val - (w1*y_lgb + w2*y_tcn + w3*y_pab) |</a:t>
            </a:r>
            <a:br/>
            <a:r>
              <a:t>subject to:   w1 + w2 + w3 = 1.0,   w_i &gt;= 0</a:t>
            </a:r>
          </a:p>
          <a:p>
            <a:br/>
            <a:pPr>
              <a:defRPr b="1" sz="1100">
                <a:solidFill>
                  <a:srgbClr val="0F172A"/>
                </a:solidFill>
              </a:defRPr>
            </a:pPr>
            <a:r>
              <a:t>Learned Optimal Weight Distribution:</a:t>
            </a:r>
          </a:p>
          <a:p>
            <a:pPr>
              <a:lnSpc>
                <a:spcPct val="130000"/>
              </a:lnSpc>
              <a:defRPr sz="1150">
                <a:solidFill>
                  <a:srgbClr val="1E293B"/>
                </a:solidFill>
              </a:defRPr>
            </a:pPr>
            <a:r>
              <a:t>• LightGBM (Tabular Specialist)   : 49.83%</a:t>
            </a:r>
            <a:br/>
            <a:r>
              <a:t>• Novel 1 (MSD-TCN Wave Specialist) : 32.60%</a:t>
            </a:r>
            <a:br/>
            <a:r>
              <a:t>• Novel 2 (D-PABNet Patch Specialist): 17.57%</a:t>
            </a:r>
          </a:p>
          <a:p>
            <a:br/>
            <a:pPr>
              <a:defRPr sz="1000">
                <a:solidFill>
                  <a:srgbClr val="64748B"/>
                </a:solidFill>
              </a:defRPr>
            </a:pPr>
            <a:r>
              <a:t>Why Convex Optimization?</a:t>
            </a:r>
            <a:br/>
            <a:r>
              <a:t>Because the objective is convex and low-dimensional (3 weights), convergence is guaranteed in 0.28 seconds with ZERO risk of local minima or meta-overfitting.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Performance: Primary Benchmark Leaderboard (5,861 Test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15 of 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6984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914400"/>
                <a:gridCol w="914400"/>
                <a:gridCol w="1005840"/>
                <a:gridCol w="1005840"/>
                <a:gridCol w="1005840"/>
                <a:gridCol w="1097280"/>
                <a:gridCol w="1645920"/>
              </a:tblGrid>
              <a:tr h="341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 (kWh)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WAPE%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MAPE%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Time (s)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vs. LightGBM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STLF-SuperEnsemble (Ours)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21.64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28.46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1.80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1.83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0.9950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+13.52% (Best)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LightGBM (Baseline)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25.02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32.46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2.08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2.15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0.9934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1.60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0.00% (Base)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Novel 1: MSD-TCN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434.4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-14.12%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Novel 2: D-PABNet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188.6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-23.41%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Novel 3: H-MoE-Boost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198.5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-23.49%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TCN-QRNN (Nature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35.38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447.3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-41.41%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TimeMixer (ICLR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42.38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-69.39%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DLinear (AAAI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43.42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54.20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-73.55%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MS-STLFNet (Prototype)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43.88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57.86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441.5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-75.40%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MS-STLFNet (No Tree Ablation)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44.91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59.20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441.5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-79.50%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LTE Hybrid (IEEE TSG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58.02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75.62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5672.2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-131.89%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iTransformer (ICLR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71.91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86.46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217.4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-187.42%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EMSformer (IEEE TPWRS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84.49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103.64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0.9331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836.0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-237.70%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PatchTST (ICLR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200.72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237.10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16.66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16.63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0.6500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-702.26%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Performance: 7-Day Load Tracking During Winter Peak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16 of 26</a:t>
            </a:r>
          </a:p>
        </p:txBody>
      </p:sp>
      <p:pic>
        <p:nvPicPr>
          <p:cNvPr id="5" name="Picture 4" descr="Figure_1_load_tracking_peak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315200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230575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Key Observations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Period: Dec 23–29, 2013 (London's coldest holiday peak week).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Peak Tracking: Champion (red curve) tracks actual load (black) through every 18:00 dinner spike without phase lag.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EMSformer Collapse: Overshoots peak demand by 150–250 kWh due to attention dispersion.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LightGBM Overshoot: Shows discrete step lag during sharp ramps, overshooting evening peaks by ~80 kWh.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Holiday Adaptability: Successfully tracks atypical Christmas Day midday deviations.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Performance: Operational Regime Stress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17 of 26</a:t>
            </a:r>
          </a:p>
        </p:txBody>
      </p:sp>
      <p:pic>
        <p:nvPicPr>
          <p:cNvPr id="5" name="Picture 4" descr="Figure_2_regime_stre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315200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230575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b="1" sz="1300">
                <a:solidFill>
                  <a:srgbClr val="16A34A"/>
                </a:solidFill>
              </a:defRPr>
            </a:pPr>
            <a:r>
              <a:t>Regime Stress Insights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Peak Hours (17–21h): Champion achieves 23.39 kWh MAE, outperforming LightGBM (27.93) and EMSformer (159.94).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Overnight Base (02–06h): Lowest valley error at 11.55 kWh (LightGBM: 14.53).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Cold Snaps (&lt;20th pct): Robust under freezing temps at 19.50 kWh (DLinear fails at 51.65).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Weekend Transitions: 21.69 kWh MAE (LightGBM: 24.01).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Max Error Bound: Lowest single-step outlier error (154.88 kWh vs EMSformer 383.33).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Efficiency: Accuracy vs. Training Latency Pareto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18 of 26</a:t>
            </a:r>
          </a:p>
        </p:txBody>
      </p:sp>
      <p:pic>
        <p:nvPicPr>
          <p:cNvPr id="5" name="Picture 4" descr="Figure_3_pareto_accuracy_vs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132320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234440"/>
            <a:ext cx="3413455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b="1" sz="1300">
                <a:solidFill>
                  <a:srgbClr val="EA580C"/>
                </a:solidFill>
              </a:defRPr>
            </a:pPr>
            <a:r>
              <a:t>Computational Feasibility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The Pareto Frontier: Our Champion sits at the optimal boundary coordinate: (0.28s, 21.64 kWh).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Deep Learning Overhead: LTE Hybrid required 5,672s (~1.5 hours) of GPU training, yet yielded high error (58.02 kWh).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Online Meta-Solving: Bounded convex optimization converges in 0.28 seconds over validation residuals.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Inference Speed: Generates 30-minute forecasts in &lt;15ms, perfectly suited for real-time utility dispatch cycles.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Conclusion: Proves high accuracy does NOT require hours of neural backpropagation.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Consistency: Error Distribution &amp; Residual 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19 of 26</a:t>
            </a:r>
          </a:p>
        </p:txBody>
      </p:sp>
      <p:pic>
        <p:nvPicPr>
          <p:cNvPr id="5" name="Picture 4" descr="Figure_4_error_residual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315200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230575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b="1" sz="1300">
                <a:solidFill>
                  <a:srgbClr val="16A34A"/>
                </a:solidFill>
              </a:defRPr>
            </a:pPr>
            <a:r>
              <a:t>Distribution Insights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</a:defRPr>
            </a:pPr>
            <a:r>
              <a:t>• Lowest Median Error: Champion achieves median absolute error of 16.2 kWh (first green box).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</a:defRPr>
            </a:pPr>
            <a:r>
              <a:t>• Tightest IQR: Narrowest interquartile range proves error consistency across all 5,861 test steps.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</a:defRPr>
            </a:pPr>
            <a:r>
              <a:t>• Suppressed Outliers: Baseline transformers show heavy tail distributions and extreme error whiskers.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</a:defRPr>
            </a:pPr>
            <a:r>
              <a:t>• Grid Reliability: Narrow error dispersion means grid operators can size spinning reserve margins much smaller.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Mechanism: Mixture Weights &amp; Error Orthogonality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20 of 26</a:t>
            </a:r>
          </a:p>
        </p:txBody>
      </p:sp>
      <p:pic>
        <p:nvPicPr>
          <p:cNvPr id="5" name="Picture 4" descr="Figure_5_ensemble_weights_and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498079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234440"/>
            <a:ext cx="3047695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Why the Ensemble Wins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Balanced Contributions: LightGBM (49.8%), MSD-TCN (32.6%), D-PABNet (17.6%).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Error Orthogonality: Correlation between LightGBM and Deep CNN is low (r = 0.41).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Mathematical Cancellation: When LightGBM steps late on a steep ramp, MSD-TCN's wave continuity offsets it.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When neural networks drift on holidays, LightGBM's calendar cuts correct them.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Error variance is mathematically suppressed.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Validation: Diebold-Mariano Statistical Significance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21 of 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463040"/>
                <a:gridCol w="1463040"/>
                <a:gridCol w="1645920"/>
                <a:gridCol w="1767535"/>
              </a:tblGrid>
              <a:tr h="4368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Champion vs. Baseline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Baseline MAE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MAE Reduction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Win Rate (%)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DM Statistic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vs. LightGBM (Tabular Base)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25.02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59.8%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11.53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&lt; 0.0001 (Sig.)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vs. TCN-QRNN (Nature 2025)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35.38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38.8%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67.0%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15.59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&lt; 0.0001 (Sig.)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vs. TimeMixer (ICLR 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42.38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17.77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&lt; 0.0001 (Sig.)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vs. DLinear (AAAI 2023)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43.42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50.2%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76.2%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19.69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&lt; 0.0001 (Sig.)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vs. LTE Hybrid (IEEE TSG 2025)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58.02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62.7%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17.12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&lt; 0.0001 (Sig.)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vs. iTransformer (ICLR 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71.91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69.9%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84.6%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25.04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&lt; 0.0001 (Sig.)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vs. EMSformer (IEEE TPWRS 2025)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84.49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74.4%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88.1%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20.16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&lt; 0.0001 (Sig.)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vs. PatchTST (ICLR 2023)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200.72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25.07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&lt; 0.0001 (Sig.)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40680"/>
            <a:ext cx="1072865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Mathematical Conclusion: Every single Diebold-Mariano statistic is &gt; 11.5 with p &lt; 0.0001, rigorously rejecting the null hypothesis of equal forecast accuracy. The Champion's 13.5% gain over LightGBM and 39–89% gain over published deep models is statistically significant, not random noise.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22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400">
                <a:solidFill>
                  <a:srgbClr val="B91C1C"/>
                </a:solidFill>
              </a:defRPr>
            </a:pPr>
            <a:r>
              <a:t>Identified Limitations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Single Geographic Feeder: Benchmarked on Greater London; requires cross-dataset validation on North American (AMPds) and Asian grids.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Single-Step Ahead Focus: Currently optimizes H = 1 (30 minutes ahead); multi-step auto-regressive rollouts (e.g., 24h day-ahead) require recursive testing.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Point Forecasts Only: Model outputs expected point values rather than probabilistic confidence intervals (quantiles).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Atypical Holiday Behavior: Largest errors occur on unique days like New Year's Eve midnight celebration surge (+400 kWh above historical midnights).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400">
                <a:solidFill>
                  <a:srgbClr val="16A34A"/>
                </a:solidFill>
              </a:defRPr>
            </a:pPr>
            <a:r>
              <a:t>Future Research Directions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Multi-Horizon Extension: Adapt the convex framework for direct multi-step forecasting across 6h, 12h, and 24h horizons.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Probabilistic Quantile Fusion: Implement pinball loss optimization to output 10th to 90th percentile uncertainty bounds for grid reserves.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Cross-Domain Transfer: Benchmark on industrial microgrids with high rooftop solar PV penetration.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Streaming Deployment: Package the 0.28s solver into an edge-deployable Docker microservice for real-time SCADA integration.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Key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23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ctr">
              <a:spcAft>
                <a:spcPts val="1200"/>
              </a:spcAft>
              <a:defRPr b="1" sz="1600">
                <a:solidFill>
                  <a:srgbClr val="0F172A"/>
                </a:solidFill>
              </a:defRPr>
            </a:pPr>
            <a:r>
              <a:t>Summary of Thesis Findings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1. Standardized Leak-Free Benchmark: We established an auditable 14-model benchmark on 5,567 London smart meters, exposing why pure Transformers fail on residential smart grids.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2. State-of-the-Art Accuracy: The proposed STLF-SuperEnsemble establishes a new record of 21.64 kWh MAE, 28.46 kWh RMSE, and R² of 0.9950 across 5,861 winter test steps.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3. Decisive Improvement: Outperforms strong tabular LightGBM by 13.5% and 7 published deep models by 39% to 89% with high statistical significance (p &lt; 0.0001).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4. Operational Robustness: Delivers superior stability across all critical operational states: Peak Hours (23.39 kWh), Overnight Base (11.55 kWh), and Cold Snaps (19.50 kWh).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5. Extreme Computational Efficiency: Finds optimal convex weights in 0.28 seconds, proving high accuracy does not require hours of deep neural training.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SHORT-TERM LOAD FORECASTING (STLF)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Key References (Literature Benchmark Zoo)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Group 18 — TKM College of Engineering  |  STLF-SuperEnsemble Benchmark  |  Slide 24 of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Benchmarked Literature Citations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[1] G. Ke et al., 'LightGBM: A highly efficient gradient boosting decision tree,' in Proc. NeurIPS, 2017.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[2] A. Zeng et al., 'Are transformers effective for time series forecasting? (DLinear),' in Proc. AAAI, 2023.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[3] Y. Nie et al., 'A time series is worth 64 words: Long-term forecasting with transformers (PatchTST),' in Proc. ICLR, 2023.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[4] Y. Liu et al., 'iTransformer: Inverted transformers are effective for time series forecasting,' in Proc. ICLR, 2024.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[5] S. Wang et al., 'TimeMixer: Decomposable multiscale mixing for time series forecasting,' in Proc. ICLR, 2024.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[6] K. Ullah et al., 'TCN-QRNN model for short term energy consumption forecasting,' Nature Sci. Rep., vol. 15, 2025.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[7] Q. Fang et al., 'A novel multi-step short-term power forecasting model (LTE Hybrid),' IEEE Trans. Smart Grid, 2025.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[8] G. Pentsos et al., 'EMSformer: Energy management system transformer for load forecasting,' IEEE Trans. Power Syst., 2025.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[9] F. X. Diebold and R. S. Mariano, 'Comparing predictive accuracy,' J. Business &amp; Economic Statistics, vol. 13, 1995.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Aft>
                <a:spcPts val="1600"/>
              </a:spcAft>
              <a:defRPr sz="2200">
                <a:solidFill>
                  <a:srgbClr val="93C5FD"/>
                </a:solidFill>
              </a:defRPr>
            </a:pPr>
            <a:r>
              <a:t>Questions &amp; Discussion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r>
              <a:t>Group 18 — Department of Computer Science &amp; Engineering, TKM College of Engineering</a:t>
            </a:r>
            <a:br/>
            <a:r>
              <a:t>Code &amp; Benchmark Repository: github.com/aadithya-pk/preprocessed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